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81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2026 병원 성장 전략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51819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왜 잘 나가는 원장님들은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'마케팅천재'를 찾을까요?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10128"/>
            <a:ext cx="914400" cy="457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56432"/>
            <a:ext cx="5181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Noto Sans KR"/>
              </a:rPr>
              <a:t>수년 간 1,000개+ 병원 마케팅 데이터를 분석한 결과, 답은 명확했습니다.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06240"/>
            <a:ext cx="45720" cy="6858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206240"/>
            <a:ext cx="5136184" cy="68580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79392"/>
            <a:ext cx="490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4907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010-5848-9572 (카톡/전화)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384" y="1828800"/>
            <a:ext cx="49990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Noto Serif KR"/>
              </a:rPr>
              <a:t>1,000+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6384" y="2880360"/>
            <a:ext cx="4999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병원 마케팅 데이터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36384" y="3465576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0976" y="3383280"/>
            <a:ext cx="4816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브랜드 블로그 × 플레이스 시너지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6384" y="3877056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0976" y="3794760"/>
            <a:ext cx="4816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신환 · 내방 폭발적 증가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6384" y="4288536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0976" y="4206240"/>
            <a:ext cx="4816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마케팅 ROAS 평균 1,000%+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400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핵심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A6FD8"/>
                </a:solidFill>
                <a:latin typeface="Noto Serif KR"/>
              </a:rPr>
              <a:t>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erif KR"/>
              </a:rPr>
              <a:t>병원 마케팅에서</a:t>
            </a:r>
          </a:p>
          <a:p>
            <a:pPr algn="l"/>
            <a:r>
              <a:rPr sz="2000" b="1">
                <a:solidFill>
                  <a:srgbClr val="F0C040"/>
                </a:solidFill>
                <a:latin typeface="Noto Serif KR"/>
              </a:rPr>
              <a:t>[브랜드 블로그]와 [플레이스] 조합을</a:t>
            </a:r>
          </a:p>
          <a:p>
            <a:pPr algn="l"/>
            <a:r>
              <a:rPr sz="2000" b="1">
                <a:solidFill>
                  <a:srgbClr val="FFFFFF"/>
                </a:solidFill>
                <a:latin typeface="Noto Serif KR"/>
              </a:rPr>
              <a:t>이길 수 있는 매체는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KR"/>
              </a:rPr>
              <a:t>이 두 고리가 맞물렸을 때 '신환'과 '내방'이라는 결과가 폭발적으로 터져 나왔습니다.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C040"/>
                </a:solidFill>
                <a:latin typeface="Noto Serif KR"/>
              </a:rPr>
              <a:t>50x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KR"/>
              </a:rPr>
              <a:t>파워링크 대비 효율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C040"/>
                </a:solidFill>
                <a:latin typeface="Noto Serif KR"/>
              </a:rPr>
              <a:t>1,000%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KR"/>
              </a:rPr>
              <a:t>평균 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03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C040"/>
                </a:solidFill>
                <a:latin typeface="Noto Serif KR"/>
              </a:rPr>
              <a:t>6개월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KR"/>
              </a:rPr>
              <a:t>J커브 점유 타임라인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요즘 시대에 블로그를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꼭 해야 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304288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네, 2026년 현재까지도 가장 안정적으로 내원을 만드는 마케팅은 단연코 블로그입니다.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Noto Sans KR"/>
              </a:rPr>
              <a:t>"가장 먼저, 그리고 반드시 브랜드블로그부터 시작하셔야 합니다."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3606698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301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923"/>
                </a:solidFill>
                <a:latin typeface="Noto Sans KR"/>
              </a:rPr>
              <a:t>⚖️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5020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까다로운 의료광고법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42816"/>
            <a:ext cx="333237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의료인 명의의 브랜드 블로그는 원장님의 진심과 전문성을 가장 논리적이고 깊이 있게 전달할 수 있는 유일한 공식 채널입니다.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2498" y="3520440"/>
            <a:ext cx="3606698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498" y="35204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9658" y="36301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923"/>
                </a:solidFill>
                <a:latin typeface="Noto Sans KR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658" y="395020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복리로 쌓이는 자산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9658" y="4242816"/>
            <a:ext cx="333237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[브랜드 블로그]는 매달 20~30개씩 양질의 포스팅이 누적되어 검색 상단 키워드를 장악하는 '디지털 부동산'이 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6356" y="3520440"/>
            <a:ext cx="3606698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6356" y="352044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3516" y="363016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923"/>
                </a:solidFill>
                <a:latin typeface="Noto Sans KR"/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3516" y="395020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AI 검색이 선택하는 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516" y="4242816"/>
            <a:ext cx="333237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2026년 네이버 AI 답변 시스템은 '출처가 명확하고 깊이 있는 정보'를 우선순위로 선택합니다.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블로그 해봤는데,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효과가 없었어요.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304288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효과가 없었던 이유는 환자의 내방을 고려하지 않은 '편법/저품질 방식' 때문입니다.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1920240" cy="1143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089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Noto Serif KR"/>
              </a:rPr>
              <a:t>50배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  <a:latin typeface="Noto Sans KR"/>
              </a:rPr>
              <a:t>파워링크 대비 효율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063240"/>
            <a:ext cx="8991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노출궤도에 올라간 블로그는 일 12~18만원 예산으로 하루 2~300명의 방문자를 만들어 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66160"/>
            <a:ext cx="8991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파워링크 환산 시 동일량의 방문자를 만드는 데 하루 600만~900만원이 소요됩니다.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069080"/>
            <a:ext cx="8991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923"/>
                </a:solidFill>
                <a:latin typeface="Noto Sans KR"/>
              </a:rPr>
              <a:t>무려 50배 이상의 효율입니다.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98848"/>
            <a:ext cx="54864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" y="4498848"/>
            <a:ext cx="11039551" cy="65836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90288"/>
            <a:ext cx="107743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Noto Sans KR"/>
              </a:rPr>
              <a:t>⚠ '싸구려 대행'에 속지 마세요 — AI가 영혼 없이 돌린 원고나, 기계적 배포 방식은 이제 네이버에서 가장 먼저 걸러집니다.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'마케팅천재'는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단순한 글쓰기 기계가 아닙니다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54864" cy="10058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965960"/>
            <a:ext cx="11039551" cy="100584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8EE"/>
                </a:solidFill>
                <a:latin typeface="Noto Serif K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57400"/>
            <a:ext cx="1008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상위노출 로직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68296"/>
            <a:ext cx="10088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네이버 검색 알고리즘을 분석한 전략으로 검색 결과 최상단을 점령합니다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81528"/>
            <a:ext cx="54864" cy="10058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3081528"/>
            <a:ext cx="11039551" cy="100584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8EE"/>
                </a:solidFill>
                <a:latin typeface="Noto Serif K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72968"/>
            <a:ext cx="1008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검색 예상 키워드 발굴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83864"/>
            <a:ext cx="10088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환자가 실제로 검색하는 황금 키워드를 발굴해 콘텐츠를 전략적으로 설계합니다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97096"/>
            <a:ext cx="54864" cy="10058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" y="4197096"/>
            <a:ext cx="11039551" cy="100584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42816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0C8EE"/>
                </a:solidFill>
                <a:latin typeface="Noto Serif K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88536"/>
            <a:ext cx="10088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심리 기획 원고로 내방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9432"/>
            <a:ext cx="100885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환자의 심리 흐름을 설계해 블로그를 읽는 것만으로 '방문 결심'을 이끌어냅니다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이것만이 2026년 의료 시장에서 가장 안전하게, 확실하게 원장님의 진료실 문을 열게 만드는 방법입니다.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06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시작하면 신환이 바로 늘까요?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언제쯤 성과가 보이나요?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54864" cy="658368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304288"/>
            <a:ext cx="11039551" cy="658368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108200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첫 달부터 환자가 줄 서는 기적은 없습니다.
'임계점'을 넘는 순간 반드시 폭발합니다.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90672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923"/>
                </a:solidFill>
                <a:latin typeface="Noto Sans KR"/>
              </a:rPr>
              <a:t>마케팅천재는 [플레이스 유입 + 블로그 설득] 시너지로 빌드업 속도를 압도적으로 앞당깁니다.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6FD8"/>
                </a:solidFill>
                <a:latin typeface="Noto Serif KR"/>
              </a:rPr>
              <a:t>10배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마케팅 투자비용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657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6FD8"/>
                </a:solidFill>
                <a:latin typeface="Noto Serif KR"/>
              </a:rPr>
              <a:t>1,000%+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평균 ROAS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657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6FD8"/>
                </a:solidFill>
                <a:latin typeface="Noto Serif KR"/>
              </a:rPr>
              <a:t>6개월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J커브 점유 시점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🚀 성과 타임라인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07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15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데이터가 증명하는 '성과 가속'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타임라인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606698" cy="45445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3606698" cy="64008"/>
          </a:xfrm>
          <a:prstGeom prst="rect">
            <a:avLst/>
          </a:prstGeom>
          <a:solidFill>
            <a:srgbClr val="99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75688"/>
            <a:ext cx="34238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1단계 · 1~2개월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923"/>
                </a:solidFill>
                <a:latin typeface="Noto Serif KR"/>
              </a:rPr>
              <a:t>기반 구축기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88920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병원의 정체성을 확립하고 네이버 AI가 신뢰할 만한 고퀄리티 데이터를 쌓는 시기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19272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플레이스 상위노출 최적화를 동시에 진행하며 유입의 물꼬를 트는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49624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브랜드 블로그 육성 시기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2498" y="1965960"/>
            <a:ext cx="3606698" cy="45445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2498" y="1965960"/>
            <a:ext cx="3606698" cy="64008"/>
          </a:xfrm>
          <a:prstGeom prst="rect">
            <a:avLst/>
          </a:prstGeom>
          <a:solidFill>
            <a:srgbClr val="558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2226" y="2075688"/>
            <a:ext cx="34238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2단계 · 3~4개월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2226" y="237744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923"/>
                </a:solidFill>
                <a:latin typeface="Noto Serif KR"/>
              </a:rPr>
              <a:t>확신 유입기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2226" y="2788920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"블로그 보고 왔어요", "플레이스 보고 전화드렸어요"가 들리기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2226" y="3319272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철학에 설득된 '충성 신환' 유입 시작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6356" y="1965960"/>
            <a:ext cx="3606698" cy="45445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36356" y="1965960"/>
            <a:ext cx="3606698" cy="64008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6084" y="2075688"/>
            <a:ext cx="34238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3단계 · 6개월 이후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6084" y="2377440"/>
            <a:ext cx="34238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923"/>
                </a:solidFill>
                <a:latin typeface="Noto Serif KR"/>
              </a:rPr>
              <a:t>J커브 점유기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6084" y="2788920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'디지털 부동산' 복리 효과가 터지고, 주요 황금 키워드를 점유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6084" y="3319272"/>
            <a:ext cx="33780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· 경쟁 병원과 격차가 빠르게 확대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우리 병원의 전문성을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제대로 담아낼 수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304288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원장님의 진료 철학과 병원의 핵심 강점을 써내는 것이 저희의 실력입니다.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마케팅천재의 '전문성 복제' 시스템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3606698" cy="11887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8444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심층 인터뷰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77056"/>
            <a:ext cx="333237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진료 철학/핵심 강점을 단 한 번의 인터뷰로 압축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474720"/>
            <a:ext cx="3606698" cy="11887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2498" y="347472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9658" y="358444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의료 전문 작가 전담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9658" y="3877056"/>
            <a:ext cx="333237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전문 지식을 환자 눈높이의 '설득 언어'로 재탄생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6356" y="3474720"/>
            <a:ext cx="3606698" cy="11887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6356" y="347472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3516" y="3584448"/>
            <a:ext cx="333237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클린 IP &amp; 보안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3516" y="3877056"/>
            <a:ext cx="333237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네이버가 신뢰하는 환경에서 안전하게 발행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00600"/>
            <a:ext cx="11094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Noto Sans KR"/>
              </a:rPr>
              <a:t>가장 비효율적인 병원은 원장님이 마케팅 원고를 고민하느라 진료와 경영에 에너지를 못 쏟는 것입니다.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09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8580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85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33272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923"/>
                </a:solidFill>
                <a:latin typeface="Noto Serif KR"/>
              </a:rPr>
              <a:t>주변 병원이 이미 선점했는데,</a:t>
            </a:r>
          </a:p>
          <a:p>
            <a:pPr algn="l"/>
            <a:r>
              <a:rPr sz="2100" b="1">
                <a:solidFill>
                  <a:srgbClr val="0F1923"/>
                </a:solidFill>
                <a:latin typeface="Noto Serif KR"/>
              </a:rPr>
              <a:t>승산이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54864" cy="53035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148840"/>
            <a:ext cx="11039551" cy="530352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854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0487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네, 충분합니다. 결국 복리가 쌓이는 시간 싸움입니다.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54864" cy="14173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" y="2788920"/>
            <a:ext cx="11039551" cy="14173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80360"/>
            <a:ext cx="10774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후발주자를 단숨에 1위로 만드는 '최다 점유'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107743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네이버 허용 계정 '3개'를 300% 활용: 원장님 명의로 성격이 다른 3개 채널을 동시 가동
(공식/철학형 · 정보/키워드형 · 스토리형)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10774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6FD8"/>
                </a:solidFill>
                <a:latin typeface="Noto Sans KR"/>
              </a:rPr>
              <a:t>→ 경쟁 병원이 1개 채널로 싸울 때, 우리는 3개 채널로 검색 결과를 장악합니다.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54864" cy="822960"/>
          </a:xfrm>
          <a:prstGeom prst="rect">
            <a:avLst/>
          </a:prstGeom>
          <a:solidFill>
            <a:srgbClr val="558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4343400"/>
            <a:ext cx="11039551" cy="8229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52728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3배 빠른 데이터 축적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36008"/>
            <a:ext cx="5272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단일 블로그 대비 양질의 콘텐츠가 더 빠르게 누적됩니다.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389120"/>
            <a:ext cx="54557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지역 대세감 형성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7" y="4636008"/>
            <a:ext cx="5455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다양한 키워드 반복 노출 → '지역에서 핫한 병원' 인식이 빠르게 형성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923"/>
                </a:solidFill>
                <a:latin typeface="Noto Sans KR"/>
              </a:rPr>
              <a:t>지금 시작해도 6개월이면 충분히 역전 가능합니다.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노출은 되는데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왜 환자가 안 올까요?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54864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304288"/>
            <a:ext cx="11039551" cy="59436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108200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상위노출은 '입장권'일 뿐입니다. 환자가 내원을 결정하는 건 결국 '설득력'입니다.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923"/>
                </a:solidFill>
                <a:latin typeface="Noto Sans KR"/>
              </a:rPr>
              <a:t>브랜드블로그와 플레이스의 시너지로 완벽한 내방 루트를 설계합니다.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9300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노출을 '내원'으로 바꾸는 전환 공식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360669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69080"/>
            <a:ext cx="3405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클릭은 기술, 내원은 심리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34840"/>
            <a:ext cx="340553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결핍을 분석해 그 결핍을 채우는 [심리 기획 원고] 작성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2498" y="3931920"/>
            <a:ext cx="360669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498" y="393192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2226" y="4069080"/>
            <a:ext cx="3405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첫인상에서 신뢰 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2226" y="4434840"/>
            <a:ext cx="340553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병원의 격에 맞는 프리미엄 디자인 결합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6356" y="3931920"/>
            <a:ext cx="360669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6356" y="393192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6084" y="4069080"/>
            <a:ext cx="3405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전문성 있는 컨텐츠 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6084" y="4434840"/>
            <a:ext cx="340553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AI 검색 로직에 맞춘 깊이 있는 정보로 신뢰 형성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저품질/노출 이슈가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생기면 어떡하죠?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54864" cy="658368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304288"/>
            <a:ext cx="11039551" cy="658368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✅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1082009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정석을 지키면 저품질은 오지 않습니다.
만약의 사태에도 마케팅 리스크는 '0'입니다.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923"/>
                </a:solidFill>
                <a:latin typeface="Noto Sans KR"/>
              </a:rPr>
              <a:t>'안심 케어' 리스크 관리 정책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66160"/>
            <a:ext cx="3606698" cy="14630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03320"/>
            <a:ext cx="3405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의료광고 대응 노하우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69080"/>
            <a:ext cx="340553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보건소 민원 대응까지 실전 경험 기반으로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566160"/>
            <a:ext cx="3606698" cy="14630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2498" y="356616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2226" y="3703320"/>
            <a:ext cx="3405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실시간 모니터링 &amp; 즉각 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2226" y="4069080"/>
            <a:ext cx="340553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노출 상태 점검과 방향 수정으로 리스크 최소화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6356" y="3566160"/>
            <a:ext cx="3606698" cy="14630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6356" y="3566160"/>
            <a:ext cx="3606698" cy="54864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6084" y="3703320"/>
            <a:ext cx="3405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무상 복구 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6084" y="4069080"/>
            <a:ext cx="340553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정책 변화로 이슈 발생 시 준최적화 블로그를 즉시 무상 제공하여 중단 없이 노출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08 · 비용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8580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85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33272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비용은 얼마나 들까요?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45920"/>
            <a:ext cx="45720" cy="54864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AI 공장형 광고(월 30~50만원)로는 광고비 회수조차 어렵습니다. 마케팅은 '지출'이 아니라 '투자'입니다. 회수 가능한 예산을 제안합니다.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50008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FD8"/>
                </a:solidFill>
                <a:latin typeface="Noto Serif KR"/>
              </a:rPr>
              <a:t>1. 브랜드 블로그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제공: 전문 기획 + 의료 전문 작가 + 프리미엄 디자인 + 의료법 3단계 검수 + 클린IP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3576218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923"/>
                </a:solidFill>
                <a:latin typeface="Noto Sans KR"/>
              </a:rPr>
              <a:t>BASIC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35762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Noto Sans KR"/>
              </a:rPr>
              <a:t>월 16건 (주 4회)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357621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FD8"/>
                </a:solidFill>
                <a:latin typeface="Noto Serif KR"/>
              </a:rPr>
              <a:t>100만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339333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Noto Sans KR"/>
              </a:rPr>
              <a:t>브랜드 기초 다지기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7738" y="3108960"/>
            <a:ext cx="3576218" cy="2286000"/>
          </a:xfrm>
          <a:prstGeom prst="rect">
            <a:avLst/>
          </a:prstGeom>
          <a:solidFill>
            <a:srgbClr val="1A6FD8"/>
          </a:solidFill>
          <a:ln w="1905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7738" y="3246120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7738" y="3611880"/>
            <a:ext cx="35762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월 20건 (주 5회)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7738" y="3913632"/>
            <a:ext cx="357621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0C040"/>
                </a:solidFill>
                <a:latin typeface="Noto Serif KR"/>
              </a:rPr>
              <a:t>120만 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9178" y="4434840"/>
            <a:ext cx="339333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"/>
              </a:rPr>
              <a:t>상위노출 &amp; J커브 진입
월 20건 계정 1~3개 운영이
효율이 가장 높습니다.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6836" y="3108960"/>
            <a:ext cx="3576218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6836" y="3246120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923"/>
                </a:solidFill>
                <a:latin typeface="Noto Sans KR"/>
              </a:rPr>
              <a:t>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836" y="3611880"/>
            <a:ext cx="35762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Noto Sans KR"/>
              </a:rPr>
              <a:t>월 30건 (매일)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6836" y="3913632"/>
            <a:ext cx="357621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FD8"/>
                </a:solidFill>
                <a:latin typeface="Noto Serif KR"/>
              </a:rPr>
              <a:t>165만 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8276" y="4434840"/>
            <a:ext cx="339333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Noto Sans KR"/>
              </a:rPr>
              <a:t>지역 점유 &amp; 타지역 노출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08 · 비용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13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8580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FD8"/>
                </a:solidFill>
                <a:latin typeface="Noto Serif KR"/>
              </a:rPr>
              <a:t>2. 플레이스 상위노출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43000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923"/>
                </a:solidFill>
                <a:latin typeface="Noto Sans KR"/>
              </a:rPr>
              <a:t>환자가 우리 병원을 발견하는 가장 강력한 통로입니다.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554480"/>
            <a:ext cx="45720" cy="59436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554480"/>
            <a:ext cx="11048695" cy="5943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64208"/>
            <a:ext cx="107743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제공: [지역명 + 진료과] 1-5위 · 진료과별 세부 키워드 확장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68296"/>
            <a:ext cx="73152" cy="7315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304288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월 150만 원~  (키워드 경쟁도 및 난이도에 따라 상이)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52344"/>
            <a:ext cx="73152" cy="7315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688336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1-5위, 최소 25일 노출 보장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36392"/>
            <a:ext cx="73152" cy="7315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07238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순위 이탈 시, A/S 필수 보장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20440"/>
            <a:ext cx="45720" cy="5943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520440"/>
            <a:ext cx="11048695" cy="594360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93592"/>
            <a:ext cx="107743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💡 시너지 팁: 플레이스 단독 진행보다 [브랜드 블로그]와 결합 시 신환 전환율이 300%+ 이상 급증합니다.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70248"/>
            <a:ext cx="54864" cy="9144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" y="4270248"/>
            <a:ext cx="11039551" cy="91440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107743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✅ 최소 권장 예산: 월 100 ~ 300만 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17720"/>
            <a:ext cx="107743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923"/>
                </a:solidFill>
                <a:latin typeface="Noto Sans KR"/>
              </a:rPr>
              <a:t>ROAS (투자 대비 매출): 파트너 병원 평균 1,000% +   |   필승 조합: [브랜드 블로그] + [플레이스]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107743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마케팅 확장 (홈페이지·인스타·유튜브·카페·바이럴 등)은 [브랜드 블로그]+[플레이스] 안착 이후입니다.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21808"/>
            <a:ext cx="54864" cy="6858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5321808"/>
            <a:ext cx="11039551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07743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923"/>
                </a:solidFill>
                <a:latin typeface="Noto Sans KR"/>
              </a:rPr>
              <a:t>"단언컨대, 병원 마케팅의 정답은 [브랜드 블로그]와 [플레이스]의 시너지에 있습니다. 확장은 그 이후입니다."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50292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/>
              </a:rPr>
              <a:t>마케팅천재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095" y="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Noto Sans KR"/>
              </a:rPr>
              <a:t>FAQ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Noto Sans KR"/>
              </a:rPr>
              <a:t>마케팅천재 · 대표 정귀명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105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Noto Sans KR"/>
              </a:rP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6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731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6FD8"/>
                </a:solidFill>
                <a:latin typeface="Noto Sans KR"/>
              </a:rPr>
              <a:t>FAQ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923"/>
                </a:solidFill>
                <a:latin typeface="Noto Serif KR"/>
              </a:rPr>
              <a:t>최소 계약기간이</a:t>
            </a:r>
          </a:p>
          <a:p>
            <a:pPr algn="l"/>
            <a:r>
              <a:rPr sz="2600" b="1">
                <a:solidFill>
                  <a:srgbClr val="0F1923"/>
                </a:solidFill>
                <a:latin typeface="Noto Serif KR"/>
              </a:rPr>
              <a:t>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73152" cy="155448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560320"/>
            <a:ext cx="11021263" cy="1554480"/>
          </a:xfrm>
          <a:prstGeom prst="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1072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923"/>
                </a:solidFill>
                <a:latin typeface="Noto Sans KR"/>
              </a:rPr>
              <a:t>✅  별도의 의무 계약 기간은 없습니다.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27248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Noto Sans KR"/>
              </a:rPr>
              <a:t>다만, 마케팅의 특성상 지역 키워드 점유는 평균 1개월 차부터 시작되며,
신규 환자 유입 체감은 2~3개월 차부터 본격화됩니다.
따라서 안정적인 성과 궤도에 진입하기까지 최소 3개월의 운영은 꼭 권장드리고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923"/>
                </a:solidFill>
                <a:latin typeface="Noto Sans KR"/>
              </a:rPr>
              <a:t>'마케팅천재' 문의의 70% 이상은 원장님께서 직접 주십니다.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6FD8"/>
                </a:solidFill>
                <a:latin typeface="Noto Sans KR"/>
              </a:rPr>
              <a:t>이미 검증된 곳에 의구심을 갖는 것은 성장을 늦출 뿐입니다.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1A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5090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DDFF"/>
                </a:solidFill>
                <a:latin typeface="Noto Sans KR"/>
              </a:rPr>
              <a:t>마케팅 투자 대비 수익률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904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Noto Serif KR"/>
              </a:rPr>
              <a:t>1,000%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090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  <a:latin typeface="Noto Sans KR"/>
              </a:rPr>
              <a:t>마케팅천재와 함께하는 원장님들이
실제로 경험하고 있는 평균 ROAS입니다.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83280"/>
            <a:ext cx="4907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브랜드 블로그 × 플레이스 시너지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794760"/>
            <a:ext cx="4907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6개월 J커브 성장 타임라인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73152" cy="7315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06240"/>
            <a:ext cx="4907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Noto Sans KR"/>
              </a:rPr>
              <a:t>복리로 쌓이는 디지털 자산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50904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DEEFF"/>
                </a:solidFill>
                <a:latin typeface="Noto Serif KR"/>
              </a:rPr>
              <a:t>고민은 확신으로 바꾸고,
지금 바로 실행의 차이를 경험해 보세요.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944" y="1188720"/>
            <a:ext cx="5181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D8"/>
                </a:solidFill>
                <a:latin typeface="Noto Sans KR"/>
              </a:rPr>
              <a:t>지금 바로 시작하세요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944" y="1600200"/>
            <a:ext cx="51819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잘 나가는 원장님들이</a:t>
            </a:r>
          </a:p>
          <a:p>
            <a:pPr algn="l"/>
            <a:r>
              <a:rPr sz="2200" b="1">
                <a:solidFill>
                  <a:srgbClr val="0F1923"/>
                </a:solidFill>
                <a:latin typeface="Noto Serif KR"/>
              </a:rPr>
              <a:t>선택한 이유,</a:t>
            </a:r>
          </a:p>
          <a:p>
            <a:pPr algn="l"/>
            <a:r>
              <a:rPr sz="2200" b="1">
                <a:solidFill>
                  <a:srgbClr val="1A6FD8"/>
                </a:solidFill>
                <a:latin typeface="Noto Serif KR"/>
              </a:rPr>
              <a:t>직접 경험해보세요.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4944" y="3337560"/>
            <a:ext cx="5181904" cy="150876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7824" y="3474720"/>
            <a:ext cx="4907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erif KR"/>
              </a:rPr>
              <a:t>마케팅천재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824" y="3904488"/>
            <a:ext cx="4907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Noto Sans KR"/>
              </a:rPr>
              <a:t>대표 정귀명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7824" y="4233672"/>
            <a:ext cx="4907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040"/>
                </a:solidFill>
                <a:latin typeface="Noto Sans KR"/>
              </a:rPr>
              <a:t>010-5848-9572 (카톡/전화)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944" y="4965192"/>
            <a:ext cx="5181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Noto Sans KR"/>
              </a:rPr>
              <a:t>카카오톡 또는 전화로 문의주시면
무료 상담 후 맞춤 전략을 제안드립니다.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400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Noto Sans KR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